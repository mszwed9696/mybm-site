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png" ContentType="image/png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2" r:id="rId7"/>
    <p:sldId id="263" r:id="rId8"/>
    <p:sldId id="264" r:id="rId9"/>
    <p:sldId id="265" r:id="rId10"/>
    <p:sldId id="261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5831"/>
    <p:restoredTop sz="93276"/>
  </p:normalViewPr>
  <p:slideViewPr>
    <p:cSldViewPr snapToGrid="0" snapToObjects="1">
      <p:cViewPr varScale="1">
        <p:scale>
          <a:sx n="119" d="100"/>
          <a:sy n="119" d="100"/>
        </p:scale>
        <p:origin x="200" y="2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51012" y="609601"/>
            <a:ext cx="8676222" cy="3200400"/>
          </a:xfrm>
        </p:spPr>
        <p:txBody>
          <a:bodyPr anchor="b">
            <a:normAutofit/>
          </a:bodyPr>
          <a:lstStyle>
            <a:lvl1pPr algn="ctr">
              <a:defRPr sz="4800">
                <a:effectLst>
                  <a:glow rad="38100">
                    <a:schemeClr val="bg1">
                      <a:lumMod val="65000"/>
                      <a:lumOff val="35000"/>
                      <a:alpha val="50000"/>
                    </a:schemeClr>
                  </a:glow>
                  <a:outerShdw blurRad="28575" dist="31750" dir="132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51012" y="3886200"/>
            <a:ext cx="8676222" cy="1905000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6/13/16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6/13/16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51013" y="3308581"/>
            <a:ext cx="8686800" cy="1468800"/>
          </a:xfrm>
        </p:spPr>
        <p:txBody>
          <a:bodyPr anchor="b"/>
          <a:lstStyle>
            <a:lvl1pPr algn="r">
              <a:defRPr sz="4000" b="0" cap="all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51011" y="4777381"/>
            <a:ext cx="8686801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6/13/16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2" y="2666999"/>
            <a:ext cx="4876800" cy="3124201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0612" y="2667000"/>
            <a:ext cx="4876800" cy="3124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6/13/16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29280" y="2658533"/>
            <a:ext cx="4588931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2" y="3243262"/>
            <a:ext cx="4876800" cy="2547937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43133" y="2667000"/>
            <a:ext cx="4604280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0612" y="3243262"/>
            <a:ext cx="4876801" cy="2547937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6/13/16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6/13/16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6/13/16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600200"/>
            <a:ext cx="3549121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03812" y="609601"/>
            <a:ext cx="5943601" cy="51816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2971800"/>
            <a:ext cx="3549121" cy="1828800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6/13/16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600200"/>
            <a:ext cx="5334001" cy="13716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33733" y="-18288"/>
            <a:ext cx="3276599" cy="6903720"/>
          </a:xfr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080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Drag picture to placeholder or click icon to add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2971800"/>
            <a:ext cx="5334001" cy="1828800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399212" y="5883275"/>
            <a:ext cx="914400" cy="365125"/>
          </a:xfrm>
        </p:spPr>
        <p:txBody>
          <a:bodyPr/>
          <a:lstStyle/>
          <a:p>
            <a:fld id="{B61BEF0D-F0BB-DE4B-95CE-6DB70DBA9567}" type="datetimeFigureOut">
              <a:rPr lang="en-US" dirty="0"/>
              <a:pPr/>
              <a:t>6/13/16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141412" y="5883275"/>
            <a:ext cx="5105400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42612" y="5883275"/>
            <a:ext cx="3225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4732865"/>
            <a:ext cx="99060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979612" y="932112"/>
            <a:ext cx="8225944" cy="316497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Drag picture to placeholder or click icon to add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3" y="5299603"/>
            <a:ext cx="9906000" cy="493712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6/13/16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2" y="609601"/>
            <a:ext cx="9905999" cy="3124199"/>
          </a:xfrm>
        </p:spPr>
        <p:txBody>
          <a:bodyPr anchor="ctr">
            <a:normAutofit/>
          </a:bodyPr>
          <a:lstStyle>
            <a:lvl1pPr algn="l">
              <a:defRPr sz="3200" b="0" cap="all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343400"/>
            <a:ext cx="9906000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6/13/16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836612" y="7868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accent1"/>
                </a:solidFill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37812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accent1"/>
                </a:solidFill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609601"/>
            <a:ext cx="9296398" cy="2743199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343400"/>
            <a:ext cx="9906000" cy="14478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buNone/>
              <a:defRPr lang="en-US" sz="2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</a:lstStyle>
          <a:p>
            <a:pPr marL="0" lvl="0" indent="0">
              <a:buNone/>
            </a:pPr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6/13/16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2" y="3308581"/>
            <a:ext cx="9906000" cy="1468800"/>
          </a:xfrm>
        </p:spPr>
        <p:txBody>
          <a:bodyPr anchor="b">
            <a:normAutofit/>
          </a:bodyPr>
          <a:lstStyle>
            <a:lvl1pPr algn="l">
              <a:defRPr sz="3200" b="0" cap="all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0" y="4777381"/>
            <a:ext cx="9906001" cy="860400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2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</a:lstStyle>
          <a:p>
            <a:pPr marL="0" lvl="0" indent="0">
              <a:buNone/>
            </a:pPr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6/13/16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836612" y="7868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accent1"/>
                </a:solidFill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37812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accent1"/>
                </a:solidFill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609601"/>
            <a:ext cx="9296398" cy="2743199"/>
          </a:xfrm>
        </p:spPr>
        <p:txBody>
          <a:bodyPr anchor="ctr">
            <a:normAutofit/>
          </a:bodyPr>
          <a:lstStyle>
            <a:lvl1pPr algn="l">
              <a:defRPr sz="3200" b="0" cap="all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41412" y="3886200"/>
            <a:ext cx="9906000" cy="8890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775200"/>
            <a:ext cx="9906000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6/13/16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2" y="609601"/>
            <a:ext cx="9905999" cy="2743199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41412" y="3505200"/>
            <a:ext cx="9906000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all" dirty="0">
                <a:ln w="3175" cmpd="sng">
                  <a:noFill/>
                </a:ln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343400"/>
            <a:ext cx="9906000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6/13/16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6/13/16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6898" y="609599"/>
            <a:ext cx="2210514" cy="5181601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2" y="609600"/>
            <a:ext cx="7543800" cy="5181600"/>
          </a:xfrm>
        </p:spPr>
        <p:txBody>
          <a:bodyPr vert="eaVert" anchor="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6/13/16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3" y="2666999"/>
            <a:ext cx="9905998" cy="31242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837612" y="5883275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fld id="{B61BEF0D-F0BB-DE4B-95CE-6DB70DBA9567}" type="datetimeFigureOut">
              <a:rPr lang="en-US" dirty="0"/>
              <a:pPr/>
              <a:t>6/13/16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2" y="5883275"/>
            <a:ext cx="7543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2" y="5883275"/>
            <a:ext cx="5511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1" r:id="rId9"/>
    <p:sldLayoutId id="2147483657" r:id="rId10"/>
    <p:sldLayoutId id="2147483663" r:id="rId11"/>
    <p:sldLayoutId id="2147483664" r:id="rId12"/>
    <p:sldLayoutId id="2147483665" r:id="rId13"/>
    <p:sldLayoutId id="2147483666" r:id="rId14"/>
    <p:sldLayoutId id="2147483667" r:id="rId15"/>
    <p:sldLayoutId id="2147483658" r:id="rId16"/>
    <p:sldLayoutId id="2147483659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200" kern="1200" cap="all">
          <a:ln w="3175" cmpd="sng">
            <a:noFill/>
          </a:ln>
          <a:gradFill flip="none" rotWithShape="1">
            <a:gsLst>
              <a:gs pos="0">
                <a:schemeClr val="tx1"/>
              </a:gs>
              <a:gs pos="100000">
                <a:schemeClr val="tx1">
                  <a:lumMod val="6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65000"/>
                <a:lumOff val="35000"/>
                <a:alpha val="40000"/>
              </a:schemeClr>
            </a:glow>
            <a:outerShdw blurRad="28575" dist="38100" dir="14040000" algn="tl" rotWithShape="0">
              <a:srgbClr val="000000">
                <a:alpha val="25000"/>
              </a:srgbClr>
            </a:outerShdw>
          </a:effectLst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20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8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6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4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4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pn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1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png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Micah </a:t>
            </a:r>
            <a:r>
              <a:rPr lang="en-US" dirty="0" err="1" smtClean="0"/>
              <a:t>ppc</a:t>
            </a:r>
            <a:r>
              <a:rPr lang="en-US" dirty="0" smtClean="0"/>
              <a:t> opportunities 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An in depth perspective on all </a:t>
            </a:r>
            <a:r>
              <a:rPr lang="en-US" dirty="0" err="1" smtClean="0"/>
              <a:t>ppc</a:t>
            </a:r>
            <a:r>
              <a:rPr lang="en-US" dirty="0"/>
              <a:t> </a:t>
            </a:r>
            <a:r>
              <a:rPr lang="en-US" dirty="0" smtClean="0"/>
              <a:t>activity.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936877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Let’s start with an overview of your </a:t>
            </a:r>
            <a:r>
              <a:rPr lang="en-US" dirty="0" err="1" smtClean="0"/>
              <a:t>ppc</a:t>
            </a:r>
            <a:r>
              <a:rPr lang="en-US" dirty="0"/>
              <a:t> </a:t>
            </a:r>
            <a:r>
              <a:rPr lang="en-US" dirty="0" smtClean="0"/>
              <a:t>for your specific locations </a:t>
            </a: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1243059" y="2786231"/>
            <a:ext cx="9702705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charset="0"/>
              <a:buChar char="•"/>
            </a:pPr>
            <a:r>
              <a:rPr lang="en-US" sz="2800" dirty="0"/>
              <a:t>We’ll cover </a:t>
            </a:r>
            <a:r>
              <a:rPr lang="en-US" sz="2800" dirty="0" err="1"/>
              <a:t>lexus</a:t>
            </a:r>
            <a:r>
              <a:rPr lang="en-US" sz="2800" dirty="0"/>
              <a:t> of </a:t>
            </a:r>
            <a:r>
              <a:rPr lang="en-US" sz="2800" dirty="0" err="1"/>
              <a:t>pembroke</a:t>
            </a:r>
            <a:r>
              <a:rPr lang="en-US" sz="2800" dirty="0"/>
              <a:t> pines and </a:t>
            </a:r>
            <a:r>
              <a:rPr lang="en-US" sz="2800" dirty="0" err="1"/>
              <a:t>lexus</a:t>
            </a:r>
            <a:r>
              <a:rPr lang="en-US" sz="2800" dirty="0"/>
              <a:t> of north </a:t>
            </a:r>
            <a:r>
              <a:rPr lang="en-US" sz="2800" dirty="0" err="1"/>
              <a:t>miami</a:t>
            </a:r>
            <a:r>
              <a:rPr lang="en-US" sz="2800" dirty="0"/>
              <a:t> beach as our focal points in this presentation. </a:t>
            </a:r>
            <a:endParaRPr lang="en-US" sz="2800" dirty="0" smtClean="0"/>
          </a:p>
          <a:p>
            <a:pPr marL="285750" indent="-285750">
              <a:buFont typeface="Arial" charset="0"/>
              <a:buChar char="•"/>
            </a:pPr>
            <a:endParaRPr lang="en-US" sz="2800" dirty="0"/>
          </a:p>
          <a:p>
            <a:pPr marL="285750" indent="-285750">
              <a:buFont typeface="Arial" charset="0"/>
              <a:buChar char="•"/>
            </a:pPr>
            <a:r>
              <a:rPr lang="en-US" sz="2800" dirty="0" smtClean="0"/>
              <a:t>Let’s start with </a:t>
            </a:r>
            <a:r>
              <a:rPr lang="en-US" sz="2800" dirty="0" err="1" smtClean="0"/>
              <a:t>lexus</a:t>
            </a:r>
            <a:r>
              <a:rPr lang="en-US" sz="2800" dirty="0" smtClean="0"/>
              <a:t> of </a:t>
            </a:r>
            <a:r>
              <a:rPr lang="en-US" sz="2800" dirty="0" err="1" smtClean="0"/>
              <a:t>pembroke</a:t>
            </a:r>
            <a:r>
              <a:rPr lang="en-US" sz="2800" dirty="0" smtClean="0"/>
              <a:t> pines. 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19358616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12191365" cy="4260028"/>
          </a:xfrm>
        </p:spPr>
      </p:pic>
      <p:sp>
        <p:nvSpPr>
          <p:cNvPr id="5" name="TextBox 4"/>
          <p:cNvSpPr txBox="1"/>
          <p:nvPr/>
        </p:nvSpPr>
        <p:spPr>
          <a:xfrm>
            <a:off x="430306" y="4615031"/>
            <a:ext cx="1119871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charset="0"/>
              <a:buChar char="•"/>
            </a:pPr>
            <a:r>
              <a:rPr lang="en-US" sz="2400" dirty="0" smtClean="0"/>
              <a:t>Here is an overview of the traffic breakdown for your domain. 19% of the traffic to this sites location comes from PPC. The other 81% comes from SEO or other traffic mediums. </a:t>
            </a:r>
          </a:p>
          <a:p>
            <a:pPr marL="285750" indent="-285750">
              <a:buFont typeface="Arial" charset="0"/>
              <a:buChar char="•"/>
            </a:pPr>
            <a:r>
              <a:rPr lang="en-US" sz="2400" dirty="0" smtClean="0"/>
              <a:t>Very consistent PPC traffic! Great job maintaining a solid performance. 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860869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419548" y="6228678"/>
            <a:ext cx="1119871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charset="0"/>
              <a:buChar char="•"/>
            </a:pPr>
            <a:r>
              <a:rPr lang="en-US" sz="2400" dirty="0" smtClean="0"/>
              <a:t>Here is a breakdown of your PPC traffic for the last year or so. </a:t>
            </a:r>
            <a:endParaRPr lang="en-US" sz="2400" dirty="0"/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12192000" cy="6228679"/>
          </a:xfrm>
        </p:spPr>
      </p:pic>
    </p:spTree>
    <p:extLst>
      <p:ext uri="{BB962C8B-B14F-4D97-AF65-F5344CB8AC3E}">
        <p14:creationId xmlns:p14="http://schemas.microsoft.com/office/powerpoint/2010/main" val="9055939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419548" y="6228678"/>
            <a:ext cx="1119871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charset="0"/>
              <a:buChar char="•"/>
            </a:pPr>
            <a:r>
              <a:rPr lang="en-US" sz="2400" dirty="0" smtClean="0"/>
              <a:t>Here is the PPC data for the history of the </a:t>
            </a:r>
            <a:r>
              <a:rPr lang="en-US" sz="2400" dirty="0" err="1" smtClean="0"/>
              <a:t>adwords</a:t>
            </a:r>
            <a:r>
              <a:rPr lang="en-US" sz="2400" dirty="0" smtClean="0"/>
              <a:t> account.  </a:t>
            </a:r>
            <a:endParaRPr lang="en-US" sz="2400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68008" y="0"/>
            <a:ext cx="12260008" cy="6228678"/>
          </a:xfrm>
        </p:spPr>
      </p:pic>
    </p:spTree>
    <p:extLst>
      <p:ext uri="{BB962C8B-B14F-4D97-AF65-F5344CB8AC3E}">
        <p14:creationId xmlns:p14="http://schemas.microsoft.com/office/powerpoint/2010/main" val="145386598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Let’s look at another locations PPC traffic</a:t>
            </a: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1243059" y="2786231"/>
            <a:ext cx="9702705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charset="0"/>
              <a:buChar char="•"/>
            </a:pPr>
            <a:r>
              <a:rPr lang="en-US" sz="2800" dirty="0" smtClean="0"/>
              <a:t>We’re going to transition into looking at the PPC overview for </a:t>
            </a:r>
            <a:r>
              <a:rPr lang="en-US" sz="2800" dirty="0" err="1" smtClean="0"/>
              <a:t>lexus</a:t>
            </a:r>
            <a:r>
              <a:rPr lang="en-US" sz="2800" dirty="0" smtClean="0"/>
              <a:t> of north </a:t>
            </a:r>
            <a:r>
              <a:rPr lang="en-US" sz="2800" dirty="0" err="1" smtClean="0"/>
              <a:t>miami</a:t>
            </a:r>
            <a:r>
              <a:rPr lang="en-US" sz="2800" dirty="0" smtClean="0"/>
              <a:t>.</a:t>
            </a:r>
          </a:p>
          <a:p>
            <a:pPr marL="285750" indent="-285750">
              <a:buFont typeface="Arial" charset="0"/>
              <a:buChar char="•"/>
            </a:pPr>
            <a:endParaRPr lang="en-US" sz="2800" dirty="0"/>
          </a:p>
          <a:p>
            <a:pPr marL="285750" indent="-285750">
              <a:buFont typeface="Arial" charset="0"/>
              <a:buChar char="•"/>
            </a:pPr>
            <a:r>
              <a:rPr lang="en-US" sz="2800" dirty="0" smtClean="0"/>
              <a:t>We will then look at these locations vs competitors. 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147906542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365760" y="4496697"/>
            <a:ext cx="1119871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charset="0"/>
              <a:buChar char="•"/>
            </a:pPr>
            <a:r>
              <a:rPr lang="en-US" sz="2400" dirty="0" smtClean="0"/>
              <a:t>Here is an overview of the traffic breakdown for your domain. Here only 2% of your website traffic comes from PPC.</a:t>
            </a:r>
          </a:p>
          <a:p>
            <a:pPr marL="285750" indent="-285750">
              <a:buFont typeface="Arial" charset="0"/>
              <a:buChar char="•"/>
            </a:pPr>
            <a:r>
              <a:rPr lang="en-US" sz="2400" dirty="0" smtClean="0"/>
              <a:t>98% of your website traffic has come from SEO or other organic mediums!</a:t>
            </a:r>
          </a:p>
          <a:p>
            <a:pPr marL="285750" indent="-285750">
              <a:buFont typeface="Arial" charset="0"/>
              <a:buChar char="•"/>
            </a:pPr>
            <a:r>
              <a:rPr lang="en-US" sz="2400" dirty="0" smtClean="0"/>
              <a:t>Very sporadic results for SEO depending on the time of year certain keywords gain more traction over others.  </a:t>
            </a:r>
            <a:endParaRPr lang="en-US" sz="2400" dirty="0"/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76730" cy="4195482"/>
          </a:xfrm>
        </p:spPr>
      </p:pic>
    </p:spTree>
    <p:extLst>
      <p:ext uri="{BB962C8B-B14F-4D97-AF65-F5344CB8AC3E}">
        <p14:creationId xmlns:p14="http://schemas.microsoft.com/office/powerpoint/2010/main" val="164340434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419548" y="6245290"/>
            <a:ext cx="1119871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charset="0"/>
              <a:buChar char="•"/>
            </a:pPr>
            <a:r>
              <a:rPr lang="en-US" dirty="0" smtClean="0"/>
              <a:t>Here is a breakdown of your PPC traffic for the last year or so. Small dip in budget after Lexus’s December to remember event? 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12192000" cy="6245291"/>
          </a:xfrm>
        </p:spPr>
      </p:pic>
    </p:spTree>
    <p:extLst>
      <p:ext uri="{BB962C8B-B14F-4D97-AF65-F5344CB8AC3E}">
        <p14:creationId xmlns:p14="http://schemas.microsoft.com/office/powerpoint/2010/main" val="72191621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419548" y="6228678"/>
            <a:ext cx="1119871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charset="0"/>
              <a:buChar char="•"/>
            </a:pPr>
            <a:r>
              <a:rPr lang="en-US" sz="2400" dirty="0" smtClean="0"/>
              <a:t>Here is the PPC data for the history of the </a:t>
            </a:r>
            <a:r>
              <a:rPr lang="en-US" sz="2400" dirty="0" err="1" smtClean="0"/>
              <a:t>adwords</a:t>
            </a:r>
            <a:r>
              <a:rPr lang="en-US" sz="2400" dirty="0" smtClean="0"/>
              <a:t> account.  </a:t>
            </a:r>
            <a:endParaRPr lang="en-US" sz="2400" dirty="0"/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270528"/>
          </a:xfrm>
        </p:spPr>
      </p:pic>
    </p:spTree>
    <p:extLst>
      <p:ext uri="{BB962C8B-B14F-4D97-AF65-F5344CB8AC3E}">
        <p14:creationId xmlns:p14="http://schemas.microsoft.com/office/powerpoint/2010/main" val="33168270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Let’s take a look at you vs your competitors (including other locations owned and operated by you)</a:t>
            </a: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1243059" y="2786231"/>
            <a:ext cx="9702705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charset="0"/>
              <a:buChar char="•"/>
            </a:pPr>
            <a:r>
              <a:rPr lang="en-US" sz="2800" dirty="0" smtClean="0"/>
              <a:t>We’re going to compare the </a:t>
            </a:r>
            <a:r>
              <a:rPr lang="en-US" sz="2800" dirty="0" err="1" smtClean="0"/>
              <a:t>pembroke</a:t>
            </a:r>
            <a:r>
              <a:rPr lang="en-US" sz="2800" dirty="0" smtClean="0"/>
              <a:t> pines location to several key competitors  and competitors you have historically mentioned. </a:t>
            </a:r>
          </a:p>
          <a:p>
            <a:pPr marL="285750" indent="-285750">
              <a:buFont typeface="Arial" charset="0"/>
              <a:buChar char="•"/>
            </a:pPr>
            <a:endParaRPr lang="en-US" sz="2800" dirty="0"/>
          </a:p>
          <a:p>
            <a:pPr marL="285750" indent="-285750">
              <a:buFont typeface="Arial" charset="0"/>
              <a:buChar char="•"/>
            </a:pPr>
            <a:r>
              <a:rPr lang="en-US" sz="2800" dirty="0" smtClean="0"/>
              <a:t>We’ll start with looking at the amount of keywords being used, then the traffic from the keywords being used followed up by the advertising budgets. 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119541805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378684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80913" y="4077148"/>
            <a:ext cx="1073613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charset="0"/>
              <a:buChar char="•"/>
            </a:pPr>
            <a:r>
              <a:rPr lang="en-US" sz="2000" dirty="0" smtClean="0"/>
              <a:t>Here we see a breakdown of the keyword volume being used by each domain.</a:t>
            </a:r>
          </a:p>
          <a:p>
            <a:r>
              <a:rPr lang="en-US" sz="2000" dirty="0" smtClean="0"/>
              <a:t> 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85904736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580913" y="4077148"/>
            <a:ext cx="1073613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charset="0"/>
              <a:buChar char="•"/>
            </a:pPr>
            <a:r>
              <a:rPr lang="en-US" sz="2000" dirty="0" smtClean="0"/>
              <a:t>Here we see a breakdown of the click volume for each domain. </a:t>
            </a:r>
          </a:p>
          <a:p>
            <a:r>
              <a:rPr lang="en-US" sz="2000" dirty="0" smtClean="0"/>
              <a:t> </a:t>
            </a:r>
            <a:endParaRPr lang="en-US" sz="2000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37754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3473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580913" y="4077148"/>
            <a:ext cx="10736132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charset="0"/>
              <a:buChar char="•"/>
            </a:pPr>
            <a:r>
              <a:rPr lang="en-US" sz="2000" dirty="0" smtClean="0"/>
              <a:t>Here we see a breakdown of the advertising budget for each domain. </a:t>
            </a:r>
          </a:p>
          <a:p>
            <a:pPr marL="285750" indent="-285750">
              <a:buFont typeface="Arial" charset="0"/>
              <a:buChar char="•"/>
            </a:pPr>
            <a:endParaRPr lang="en-US" sz="2000" dirty="0" smtClean="0"/>
          </a:p>
          <a:p>
            <a:pPr marL="285750" indent="-285750">
              <a:buFont typeface="Arial" charset="0"/>
              <a:buChar char="•"/>
            </a:pPr>
            <a:r>
              <a:rPr lang="en-US" sz="2000" dirty="0" smtClean="0"/>
              <a:t>Let’s compare all 3 at once.  </a:t>
            </a:r>
          </a:p>
          <a:p>
            <a:r>
              <a:rPr lang="en-US" sz="2000" dirty="0" smtClean="0"/>
              <a:t> </a:t>
            </a:r>
            <a:endParaRPr lang="en-US" sz="2000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37697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135418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80790" y="0"/>
            <a:ext cx="7211210" cy="2405286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80791" y="2395196"/>
            <a:ext cx="7211209" cy="2233086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80790" y="4628282"/>
            <a:ext cx="7211210" cy="222971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41064" y="537882"/>
            <a:ext cx="3991087" cy="62478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charset="0"/>
              <a:buChar char="•"/>
            </a:pPr>
            <a:r>
              <a:rPr lang="en-US" sz="2000" dirty="0" smtClean="0"/>
              <a:t>Here we get an incredible visual breakdown on keywords volume, click volume and advertising budget all stacked.</a:t>
            </a:r>
          </a:p>
          <a:p>
            <a:pPr marL="285750" indent="-285750">
              <a:buFont typeface="Arial" charset="0"/>
              <a:buChar char="•"/>
            </a:pPr>
            <a:endParaRPr lang="en-US" sz="2000" dirty="0"/>
          </a:p>
          <a:p>
            <a:pPr marL="285750" indent="-285750">
              <a:buFont typeface="Arial" charset="0"/>
              <a:buChar char="•"/>
            </a:pPr>
            <a:r>
              <a:rPr lang="en-US" sz="2000" dirty="0" smtClean="0"/>
              <a:t>Key trends to note are that JM Lexus dropped their budget and limited themselves to a constrained list of keywords starting in late Dec, early Jan. Seems like they stopped promo for their </a:t>
            </a:r>
            <a:r>
              <a:rPr lang="en-US" sz="2000" dirty="0"/>
              <a:t>L</a:t>
            </a:r>
            <a:r>
              <a:rPr lang="en-US" sz="2000" dirty="0" smtClean="0"/>
              <a:t>exus December to remember promo? </a:t>
            </a:r>
          </a:p>
          <a:p>
            <a:pPr marL="285750" indent="-285750">
              <a:buFont typeface="Arial" charset="0"/>
              <a:buChar char="•"/>
            </a:pPr>
            <a:endParaRPr lang="en-US" sz="2000" dirty="0" smtClean="0"/>
          </a:p>
          <a:p>
            <a:pPr marL="285750" indent="-285750">
              <a:buFont typeface="Arial" charset="0"/>
              <a:buChar char="•"/>
            </a:pPr>
            <a:r>
              <a:rPr lang="en-US" sz="2000" dirty="0" smtClean="0"/>
              <a:t>Meanwhile, </a:t>
            </a:r>
            <a:r>
              <a:rPr lang="en-US" sz="2000" dirty="0" err="1" smtClean="0"/>
              <a:t>pembroke</a:t>
            </a:r>
            <a:r>
              <a:rPr lang="en-US" sz="2000" dirty="0" smtClean="0"/>
              <a:t> pines was consistent this entire year of data for all 3 categories shown. 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96287694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What can you do with this data?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43059" y="2786231"/>
            <a:ext cx="9702705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charset="0"/>
              <a:buChar char="•"/>
            </a:pPr>
            <a:r>
              <a:rPr lang="en-US" sz="2800" dirty="0" smtClean="0"/>
              <a:t>Let’s point out the areas of opportunity and growth for the new locations that you’re bringing under your operations umbrella, and existing successful locations like </a:t>
            </a:r>
            <a:r>
              <a:rPr lang="en-US" sz="2800" dirty="0" err="1" smtClean="0"/>
              <a:t>Prembroke</a:t>
            </a:r>
            <a:r>
              <a:rPr lang="en-US" sz="2800" dirty="0" smtClean="0"/>
              <a:t> pines and North Miami Beach. 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104642403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580913" y="4077148"/>
            <a:ext cx="10736132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charset="0"/>
              <a:buChar char="•"/>
            </a:pPr>
            <a:r>
              <a:rPr lang="en-US" sz="2000" dirty="0" smtClean="0"/>
              <a:t>Here we see a breakdown of the advertising budget for each domain. </a:t>
            </a:r>
          </a:p>
          <a:p>
            <a:pPr marL="285750" indent="-285750">
              <a:buFont typeface="Arial" charset="0"/>
              <a:buChar char="•"/>
            </a:pPr>
            <a:endParaRPr lang="en-US" sz="2000" dirty="0" smtClean="0"/>
          </a:p>
          <a:p>
            <a:pPr marL="285750" indent="-285750">
              <a:buFont typeface="Arial" charset="0"/>
              <a:buChar char="•"/>
            </a:pPr>
            <a:r>
              <a:rPr lang="en-US" sz="2000" dirty="0" smtClean="0"/>
              <a:t>This is a huge area for opportunity because if the current budget is lifted for North Miami Beach and the other locations you currently control over you’ll have immediate results. </a:t>
            </a:r>
          </a:p>
          <a:p>
            <a:r>
              <a:rPr lang="en-US" sz="2000" dirty="0" smtClean="0"/>
              <a:t> </a:t>
            </a:r>
            <a:endParaRPr lang="en-US" sz="2000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37697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759368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378684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80913" y="4077148"/>
            <a:ext cx="10736132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charset="0"/>
              <a:buChar char="•"/>
            </a:pPr>
            <a:r>
              <a:rPr lang="en-US" sz="2000" dirty="0" smtClean="0"/>
              <a:t>Here we see a breakdown of the keyword volume being used by each domain.</a:t>
            </a:r>
          </a:p>
          <a:p>
            <a:endParaRPr lang="en-US" sz="2000" dirty="0" smtClean="0"/>
          </a:p>
          <a:p>
            <a:endParaRPr lang="en-US" sz="2000" dirty="0"/>
          </a:p>
          <a:p>
            <a:r>
              <a:rPr lang="en-US" sz="2000" dirty="0" smtClean="0"/>
              <a:t>This is the biggest area for improvement. I have an exact list of every keyword used for JM Lexus during their peak keyword usage.  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08669617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66005" y="0"/>
            <a:ext cx="8425995" cy="6858000"/>
          </a:xfrm>
        </p:spPr>
      </p:pic>
      <p:sp>
        <p:nvSpPr>
          <p:cNvPr id="5" name="TextBox 4"/>
          <p:cNvSpPr txBox="1"/>
          <p:nvPr/>
        </p:nvSpPr>
        <p:spPr>
          <a:xfrm>
            <a:off x="301214" y="753035"/>
            <a:ext cx="2926080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charset="0"/>
              <a:buChar char="•"/>
            </a:pPr>
            <a:r>
              <a:rPr lang="en-US" sz="2000" dirty="0" smtClean="0"/>
              <a:t>This is a huge area for growth when the keyword list is available with the click volume for each keyword because when added to any other Lexus location the keywords added all have a proven result. </a:t>
            </a:r>
          </a:p>
          <a:p>
            <a:pPr marL="285750" indent="-285750">
              <a:buFont typeface="Arial" charset="0"/>
              <a:buChar char="•"/>
            </a:pPr>
            <a:endParaRPr lang="en-US" sz="2000" dirty="0"/>
          </a:p>
          <a:p>
            <a:pPr marL="285750" indent="-285750">
              <a:buFont typeface="Arial" charset="0"/>
              <a:buChar char="•"/>
            </a:pP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19026812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80790" y="0"/>
            <a:ext cx="7211210" cy="2405286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80791" y="2395196"/>
            <a:ext cx="7211209" cy="2233086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80790" y="4628282"/>
            <a:ext cx="7211210" cy="222971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08791" y="451821"/>
            <a:ext cx="4206240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charset="0"/>
              <a:buChar char="•"/>
            </a:pPr>
            <a:r>
              <a:rPr lang="en-US" sz="2400" dirty="0" smtClean="0"/>
              <a:t>The addition of that keyword list to both </a:t>
            </a:r>
            <a:r>
              <a:rPr lang="en-US" sz="2400" dirty="0" err="1" smtClean="0"/>
              <a:t>pembroke</a:t>
            </a:r>
            <a:r>
              <a:rPr lang="en-US" sz="2400" dirty="0" smtClean="0"/>
              <a:t> pines and north </a:t>
            </a:r>
            <a:r>
              <a:rPr lang="en-US" sz="2400" dirty="0" err="1" smtClean="0"/>
              <a:t>miami</a:t>
            </a:r>
            <a:r>
              <a:rPr lang="en-US" sz="2400" dirty="0" smtClean="0"/>
              <a:t> </a:t>
            </a:r>
            <a:r>
              <a:rPr lang="en-US" sz="2400" dirty="0" err="1" smtClean="0"/>
              <a:t>lexus</a:t>
            </a:r>
            <a:r>
              <a:rPr lang="en-US" sz="2400" dirty="0" smtClean="0"/>
              <a:t> locations in combination with a $4,000-$5,000 advertising would drive the same results JM Lexus once peaked at. 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14995718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 smtClean="0"/>
              <a:t>Action to take with these understandings</a:t>
            </a:r>
            <a:endParaRPr lang="en-US" sz="3600" dirty="0"/>
          </a:p>
        </p:txBody>
      </p:sp>
      <p:sp>
        <p:nvSpPr>
          <p:cNvPr id="4" name="TextBox 3"/>
          <p:cNvSpPr txBox="1"/>
          <p:nvPr/>
        </p:nvSpPr>
        <p:spPr>
          <a:xfrm>
            <a:off x="1243059" y="2786231"/>
            <a:ext cx="9702705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charset="0"/>
              <a:buChar char="•"/>
            </a:pPr>
            <a:r>
              <a:rPr lang="en-US" sz="2800" dirty="0" smtClean="0"/>
              <a:t>The execution plan is in place to add a proven list of keywords readily available to the PPC campaigns for both </a:t>
            </a:r>
            <a:r>
              <a:rPr lang="en-US" sz="2800" dirty="0" err="1" smtClean="0"/>
              <a:t>pembroke</a:t>
            </a:r>
            <a:r>
              <a:rPr lang="en-US" sz="2800" dirty="0" smtClean="0"/>
              <a:t> pines and north </a:t>
            </a:r>
            <a:r>
              <a:rPr lang="en-US" sz="2800" dirty="0" err="1" smtClean="0"/>
              <a:t>miami</a:t>
            </a:r>
            <a:r>
              <a:rPr lang="en-US" sz="2800" dirty="0" smtClean="0"/>
              <a:t> Lexus locations. This can be performed by the OK Group digital agency for a monthly retainer of $3,500.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175657756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The services that we'll include with Ad service: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43059" y="2786231"/>
            <a:ext cx="9702705" cy="2985433"/>
          </a:xfrm>
          <a:prstGeom prst="rect">
            <a:avLst/>
          </a:prstGeom>
          <a:noFill/>
        </p:spPr>
        <p:txBody>
          <a:bodyPr wrap="square" numCol="2" rtlCol="0">
            <a:spAutoFit/>
          </a:bodyPr>
          <a:lstStyle/>
          <a:p>
            <a:pPr marL="285750" indent="-285750">
              <a:buFont typeface="Arial" charset="0"/>
              <a:buChar char="•"/>
            </a:pPr>
            <a:r>
              <a:rPr lang="en-US" sz="2800" dirty="0"/>
              <a:t>1</a:t>
            </a:r>
            <a:r>
              <a:rPr lang="en-US" sz="2000" dirty="0"/>
              <a:t>.) Dedicated Account </a:t>
            </a:r>
            <a:r>
              <a:rPr lang="en-US" sz="2000" dirty="0" smtClean="0"/>
              <a:t>Manager</a:t>
            </a:r>
          </a:p>
          <a:p>
            <a:pPr marL="285750" indent="-285750">
              <a:buFont typeface="Arial" charset="0"/>
              <a:buChar char="•"/>
            </a:pPr>
            <a:r>
              <a:rPr lang="en-US" sz="2000" dirty="0" smtClean="0"/>
              <a:t>2</a:t>
            </a:r>
            <a:r>
              <a:rPr lang="en-US" sz="2000" dirty="0"/>
              <a:t>.) Account Review &amp; Goal </a:t>
            </a:r>
            <a:r>
              <a:rPr lang="en-US" sz="2000" dirty="0" smtClean="0"/>
              <a:t>Setting</a:t>
            </a:r>
          </a:p>
          <a:p>
            <a:pPr marL="285750" indent="-285750">
              <a:buFont typeface="Arial" charset="0"/>
              <a:buChar char="•"/>
            </a:pPr>
            <a:r>
              <a:rPr lang="en-US" sz="2000" dirty="0" smtClean="0"/>
              <a:t>3</a:t>
            </a:r>
            <a:r>
              <a:rPr lang="en-US" sz="2000" dirty="0"/>
              <a:t>.) Keyword </a:t>
            </a:r>
            <a:r>
              <a:rPr lang="en-US" sz="2000" dirty="0" smtClean="0"/>
              <a:t>Research</a:t>
            </a:r>
          </a:p>
          <a:p>
            <a:pPr marL="285750" indent="-285750">
              <a:buFont typeface="Arial" charset="0"/>
              <a:buChar char="•"/>
            </a:pPr>
            <a:r>
              <a:rPr lang="en-US" sz="2000" dirty="0" smtClean="0"/>
              <a:t>4</a:t>
            </a:r>
            <a:r>
              <a:rPr lang="en-US" sz="2000" dirty="0"/>
              <a:t>.) Account Structure &amp; </a:t>
            </a:r>
            <a:r>
              <a:rPr lang="en-US" sz="2000" dirty="0" smtClean="0"/>
              <a:t>Restructure</a:t>
            </a:r>
          </a:p>
          <a:p>
            <a:pPr marL="285750" indent="-285750">
              <a:buFont typeface="Arial" charset="0"/>
              <a:buChar char="•"/>
            </a:pPr>
            <a:r>
              <a:rPr lang="en-US" sz="2000" dirty="0" smtClean="0"/>
              <a:t>5</a:t>
            </a:r>
            <a:r>
              <a:rPr lang="en-US" sz="2000" dirty="0"/>
              <a:t>.)Text Ad Creation &amp; </a:t>
            </a:r>
            <a:r>
              <a:rPr lang="en-US" sz="2000" dirty="0" smtClean="0"/>
              <a:t>Optimization</a:t>
            </a:r>
          </a:p>
          <a:p>
            <a:pPr marL="342900" indent="-342900">
              <a:buFont typeface="Arial" charset="0"/>
              <a:buChar char="•"/>
            </a:pPr>
            <a:endParaRPr lang="en-US" sz="2000" dirty="0" smtClean="0"/>
          </a:p>
          <a:p>
            <a:pPr marL="342900" indent="-342900">
              <a:buFont typeface="Arial" charset="0"/>
              <a:buChar char="•"/>
            </a:pPr>
            <a:endParaRPr lang="en-US" sz="2000" dirty="0"/>
          </a:p>
          <a:p>
            <a:pPr marL="342900" indent="-342900">
              <a:buFont typeface="Arial" charset="0"/>
              <a:buChar char="•"/>
            </a:pPr>
            <a:endParaRPr lang="en-US" sz="2000" dirty="0" smtClean="0"/>
          </a:p>
          <a:p>
            <a:pPr marL="342900" indent="-342900">
              <a:buFont typeface="Arial" charset="0"/>
              <a:buChar char="•"/>
            </a:pPr>
            <a:endParaRPr lang="en-US" sz="2000" dirty="0"/>
          </a:p>
          <a:p>
            <a:pPr marL="342900" indent="-342900">
              <a:buFont typeface="Arial" charset="0"/>
              <a:buChar char="•"/>
            </a:pPr>
            <a:r>
              <a:rPr lang="en-US" sz="2000" dirty="0" smtClean="0"/>
              <a:t>6</a:t>
            </a:r>
            <a:r>
              <a:rPr lang="en-US" sz="2000" dirty="0"/>
              <a:t>.) Dynamic Keyword </a:t>
            </a:r>
            <a:r>
              <a:rPr lang="en-US" sz="2000" dirty="0" smtClean="0"/>
              <a:t>Insertion</a:t>
            </a:r>
          </a:p>
          <a:p>
            <a:pPr marL="285750" indent="-285750">
              <a:buFont typeface="Arial" charset="0"/>
              <a:buChar char="•"/>
            </a:pPr>
            <a:r>
              <a:rPr lang="en-US" sz="2000" dirty="0" smtClean="0"/>
              <a:t> 7.) </a:t>
            </a:r>
            <a:r>
              <a:rPr lang="en-US" sz="2000" dirty="0" err="1" smtClean="0"/>
              <a:t>Geotargeting</a:t>
            </a:r>
            <a:endParaRPr lang="en-US" sz="2000" dirty="0" smtClean="0"/>
          </a:p>
          <a:p>
            <a:pPr marL="285750" indent="-285750">
              <a:buFont typeface="Arial" charset="0"/>
              <a:buChar char="•"/>
            </a:pPr>
            <a:r>
              <a:rPr lang="en-US" sz="2000" dirty="0" smtClean="0"/>
              <a:t> 8.) </a:t>
            </a:r>
            <a:r>
              <a:rPr lang="en-US" sz="2000" dirty="0"/>
              <a:t>Conversion </a:t>
            </a:r>
            <a:r>
              <a:rPr lang="en-US" sz="2000" dirty="0" smtClean="0"/>
              <a:t>Tracking</a:t>
            </a:r>
          </a:p>
          <a:p>
            <a:pPr marL="285750" indent="-285750">
              <a:buFont typeface="Arial" charset="0"/>
              <a:buChar char="•"/>
            </a:pPr>
            <a:r>
              <a:rPr lang="en-US" sz="2000" dirty="0" smtClean="0"/>
              <a:t> 9.) </a:t>
            </a:r>
            <a:r>
              <a:rPr lang="en-US" sz="2000" dirty="0"/>
              <a:t>Detailed Performance </a:t>
            </a:r>
            <a:r>
              <a:rPr lang="en-US" sz="2000" dirty="0" smtClean="0"/>
              <a:t>Reporting</a:t>
            </a:r>
          </a:p>
          <a:p>
            <a:pPr marL="285750" indent="-285750">
              <a:buFont typeface="Arial" charset="0"/>
              <a:buChar char="•"/>
            </a:pPr>
            <a:r>
              <a:rPr lang="en-US" sz="2000" dirty="0" smtClean="0"/>
              <a:t> 10.) </a:t>
            </a:r>
            <a:r>
              <a:rPr lang="en-US" sz="2000" dirty="0"/>
              <a:t>Unlimited Google PPC ad campaigns within the term optimized for conversions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53521995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 smtClean="0"/>
              <a:t>When can this be done?</a:t>
            </a:r>
            <a:endParaRPr lang="en-US" sz="3600" dirty="0"/>
          </a:p>
        </p:txBody>
      </p:sp>
      <p:sp>
        <p:nvSpPr>
          <p:cNvPr id="4" name="TextBox 3"/>
          <p:cNvSpPr txBox="1"/>
          <p:nvPr/>
        </p:nvSpPr>
        <p:spPr>
          <a:xfrm>
            <a:off x="1243059" y="2786231"/>
            <a:ext cx="9702705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charset="0"/>
              <a:buChar char="•"/>
            </a:pPr>
            <a:r>
              <a:rPr lang="en-US" sz="2800" dirty="0" smtClean="0"/>
              <a:t>We can implement the keyword creation and ad creation with proven ads that have already worked for you and your competitors historically in under 7 working days for the $3,500 retainer cost. </a:t>
            </a:r>
          </a:p>
          <a:p>
            <a:pPr marL="285750" indent="-285750">
              <a:buFont typeface="Arial" charset="0"/>
              <a:buChar char="•"/>
            </a:pPr>
            <a:endParaRPr lang="en-US" sz="2800" smtClean="0"/>
          </a:p>
          <a:p>
            <a:pPr marL="285750" indent="-285750">
              <a:buFont typeface="Arial" charset="0"/>
              <a:buChar char="•"/>
            </a:pPr>
            <a:r>
              <a:rPr lang="en-US" sz="2800" smtClean="0"/>
              <a:t>What </a:t>
            </a:r>
            <a:r>
              <a:rPr lang="en-US" sz="2800" dirty="0" smtClean="0"/>
              <a:t>questions can I answer </a:t>
            </a:r>
            <a:r>
              <a:rPr lang="en-US" sz="2800" smtClean="0"/>
              <a:t>for you?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644778757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Mesh">
  <a:themeElements>
    <a:clrScheme name="Mesh">
      <a:dk1>
        <a:sysClr val="windowText" lastClr="000000"/>
      </a:dk1>
      <a:lt1>
        <a:sysClr val="window" lastClr="FFFFFF"/>
      </a:lt1>
      <a:dk2>
        <a:srgbClr val="363D46"/>
      </a:dk2>
      <a:lt2>
        <a:srgbClr val="EBEBEB"/>
      </a:lt2>
      <a:accent1>
        <a:srgbClr val="6F6F6F"/>
      </a:accent1>
      <a:accent2>
        <a:srgbClr val="BFBFA5"/>
      </a:accent2>
      <a:accent3>
        <a:srgbClr val="DCD084"/>
      </a:accent3>
      <a:accent4>
        <a:srgbClr val="E7BF5F"/>
      </a:accent4>
      <a:accent5>
        <a:srgbClr val="E9A039"/>
      </a:accent5>
      <a:accent6>
        <a:srgbClr val="CF7133"/>
      </a:accent6>
      <a:hlink>
        <a:srgbClr val="F28943"/>
      </a:hlink>
      <a:folHlink>
        <a:srgbClr val="F1B76C"/>
      </a:folHlink>
    </a:clrScheme>
    <a:fontScheme name="Mesh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Mesh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84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50800" dist="25400" dir="13500000">
              <a:srgbClr val="000000">
                <a:alpha val="55000"/>
              </a:srgbClr>
            </a:inn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>
            <a:bevelT w="25400" h="25400" prst="slope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28000"/>
                <a:satMod val="94000"/>
                <a:lumMod val="20000"/>
              </a:schemeClr>
              <a:schemeClr val="phClr">
                <a:tint val="94000"/>
                <a:shade val="84000"/>
                <a:satMod val="148000"/>
                <a:lumMod val="114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esh" id="{789EC3FE-34FD-429C-9918-760025E6C145}" vid="{B8BE45C0-8141-4D58-8C71-A009BC26FBBB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Mesh</Template>
  <TotalTime>258</TotalTime>
  <Words>824</Words>
  <Application>Microsoft Macintosh PowerPoint</Application>
  <PresentationFormat>Widescreen</PresentationFormat>
  <Paragraphs>69</Paragraphs>
  <Slides>22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Century Gothic</vt:lpstr>
      <vt:lpstr>Arial</vt:lpstr>
      <vt:lpstr>Mesh</vt:lpstr>
      <vt:lpstr>Micah ppc opportunities </vt:lpstr>
      <vt:lpstr>Let’s start with an overview of your ppc for your specific locations </vt:lpstr>
      <vt:lpstr>PowerPoint Presentation</vt:lpstr>
      <vt:lpstr>PowerPoint Presentation</vt:lpstr>
      <vt:lpstr>PowerPoint Presentation</vt:lpstr>
      <vt:lpstr>Let’s look at another locations PPC traffic</vt:lpstr>
      <vt:lpstr>PowerPoint Presentation</vt:lpstr>
      <vt:lpstr>PowerPoint Presentation</vt:lpstr>
      <vt:lpstr>PowerPoint Presentation</vt:lpstr>
      <vt:lpstr>Let’s take a look at you vs your competitors (including other locations owned and operated by you)</vt:lpstr>
      <vt:lpstr>PowerPoint Presentation</vt:lpstr>
      <vt:lpstr>PowerPoint Presentation</vt:lpstr>
      <vt:lpstr>PowerPoint Presentation</vt:lpstr>
      <vt:lpstr>PowerPoint Presentation</vt:lpstr>
      <vt:lpstr>What can you do with this data?</vt:lpstr>
      <vt:lpstr>PowerPoint Presentation</vt:lpstr>
      <vt:lpstr>PowerPoint Presentation</vt:lpstr>
      <vt:lpstr>PowerPoint Presentation</vt:lpstr>
      <vt:lpstr>PowerPoint Presentation</vt:lpstr>
      <vt:lpstr>Action to take with these understandings</vt:lpstr>
      <vt:lpstr>The services that we'll include with Ad service:</vt:lpstr>
      <vt:lpstr>When can this be done?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Micah ppc opportunities </dc:title>
  <dc:creator>Microsoft Office User</dc:creator>
  <cp:lastModifiedBy>Microsoft Office User</cp:lastModifiedBy>
  <cp:revision>15</cp:revision>
  <dcterms:created xsi:type="dcterms:W3CDTF">2016-06-14T00:20:34Z</dcterms:created>
  <dcterms:modified xsi:type="dcterms:W3CDTF">2016-06-14T04:38:47Z</dcterms:modified>
</cp:coreProperties>
</file>